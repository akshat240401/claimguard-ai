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66" r:id="rId5"/>
    <p:sldId id="267" r:id="rId6"/>
    <p:sldId id="261" r:id="rId7"/>
    <p:sldId id="262" r:id="rId8"/>
    <p:sldId id="263" r:id="rId9"/>
    <p:sldId id="264" r:id="rId10"/>
    <p:sldId id="269" r:id="rId1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0944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F3E543-7430-4ECF-B446-5D17446EF11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/>
            <a:r>
              <a:rPr lang="en-IN" sz="1800" dirty="0"/>
              <a:t>“Hello, I’m Akshat Mehta. This presentation examines clinical decision making and pattern recognition across Treatment, Payment, and Operations, followed by ClaimGuard, my payment-focused proof of concept.”</a:t>
            </a: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9709D6-A246-4110-A06E-2B124B7B24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/>
            <a:r>
              <a:rPr lang="en-IN" sz="1800" dirty="0"/>
              <a:t>““To first establish the scope, pattern recognition supports decisions across Treatment, Payment, and Operations. </a:t>
            </a:r>
          </a:p>
          <a:p>
            <a:pPr algn="ctr"/>
            <a:r>
              <a:rPr lang="en-IN" sz="1800" dirty="0"/>
              <a:t>Pattern recognition converts healthcare data into prioritized evidence for expert action. </a:t>
            </a:r>
          </a:p>
          <a:p>
            <a:pPr algn="ctr"/>
            <a:r>
              <a:rPr lang="en-IN" sz="1800" dirty="0"/>
              <a:t>In Treatment, it supports patient-risk and care decisions.</a:t>
            </a:r>
          </a:p>
          <a:p>
            <a:pPr algn="ctr"/>
            <a:r>
              <a:rPr lang="en-IN" sz="1800" dirty="0"/>
              <a:t>In Payment, it surfaces unusual claim patterns. </a:t>
            </a:r>
          </a:p>
          <a:p>
            <a:pPr algn="ctr"/>
            <a:r>
              <a:rPr lang="en-IN" sz="1800" dirty="0"/>
              <a:t>In Operations, it supports demand, staffing, and capacity planning. </a:t>
            </a:r>
          </a:p>
          <a:p>
            <a:pPr algn="ctr"/>
            <a:r>
              <a:rPr lang="en-IN" sz="1800" dirty="0"/>
              <a:t>The goal is to support experts, not replace them.”</a:t>
            </a: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6E30FD-C001-4EE0-A83D-2A9BDA1C1E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/>
              <a:t>““Based on these trends, I identified three strategic options for Cotiviti..</a:t>
            </a:r>
          </a:p>
          <a:p>
            <a:pPr algn="ctr"/>
            <a:r>
              <a:rPr lang="en-IN" dirty="0"/>
              <a:t>They are </a:t>
            </a:r>
          </a:p>
          <a:p>
            <a:pPr algn="ctr"/>
            <a:r>
              <a:rPr lang="en-IN" dirty="0"/>
              <a:t>richer contextual analysis, bounded agentic workflows, and governance by design. </a:t>
            </a:r>
          </a:p>
          <a:p>
            <a:pPr algn="ctr"/>
            <a:r>
              <a:rPr lang="en-IN" dirty="0"/>
              <a:t>These can enable earlier intervention and better-targeted review, </a:t>
            </a:r>
          </a:p>
          <a:p>
            <a:pPr algn="ctr"/>
            <a:r>
              <a:rPr lang="en-IN" dirty="0"/>
              <a:t>but they also create risks including false positives, drift, privacy exposure, and automation bias.”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/>
              <a:t>“I recommend a Build, Assist, and Validate strategy. </a:t>
            </a:r>
          </a:p>
          <a:p>
            <a:pPr algn="ctr"/>
            <a:r>
              <a:rPr lang="en-IN" dirty="0"/>
              <a:t>Build reusable cross-TPO analytics. </a:t>
            </a:r>
          </a:p>
          <a:p>
            <a:pPr algn="ctr"/>
            <a:r>
              <a:rPr lang="en-IN" dirty="0"/>
              <a:t>Assist reviewers with evidence-linked policy, history, and model explanations. </a:t>
            </a:r>
          </a:p>
          <a:p>
            <a:pPr algn="ctr"/>
            <a:r>
              <a:rPr lang="en-IN" dirty="0"/>
              <a:t>And Then validate deployments through shadow-mode pilots, outcome scorecards, monitoring, and rollback criteria.”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/>
              <a:t>“To demonstrate the idea in practice, I developed ClaimGuard as a focused Payment proof of concept.. </a:t>
            </a:r>
          </a:p>
          <a:p>
            <a:pPr algn="ctr"/>
            <a:r>
              <a:rPr lang="en-IN" dirty="0"/>
              <a:t>It </a:t>
            </a:r>
            <a:r>
              <a:rPr lang="en-IN" dirty="0" err="1"/>
              <a:t>analyzes</a:t>
            </a:r>
            <a:r>
              <a:rPr lang="en-IN" dirty="0"/>
              <a:t> 1000 synthetic claims using five transparent rules and Isolation Forest. </a:t>
            </a:r>
          </a:p>
          <a:p>
            <a:pPr algn="ctr"/>
            <a:r>
              <a:rPr lang="en-IN" dirty="0"/>
              <a:t>The final score combines 65% rule score and 35% anomaly score, then generates a priority and explanation for human review. </a:t>
            </a:r>
          </a:p>
          <a:p>
            <a:pPr algn="ctr"/>
            <a:r>
              <a:rPr lang="en-IN" dirty="0"/>
              <a:t>It does not determine fraud or make payment decisions.”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/>
            <a:endParaRPr lang="en-US" sz="1800" dirty="0"/>
          </a:p>
          <a:p>
            <a:pPr algn="ctr"/>
            <a:r>
              <a:rPr lang="en-US" sz="1800" dirty="0"/>
              <a:t>“This is the working ClaimGuard dashboard. </a:t>
            </a:r>
          </a:p>
          <a:p>
            <a:pPr algn="ctr"/>
            <a:r>
              <a:rPr lang="en-IN" sz="1800" dirty="0"/>
              <a:t>““Starting with the dashboard overview,</a:t>
            </a:r>
          </a:p>
          <a:p>
            <a:pPr algn="ctr"/>
            <a:r>
              <a:rPr lang="en-IN" sz="1800" dirty="0"/>
              <a:t> we can see how the full dataset is converted into a prioritized work queue.”</a:t>
            </a:r>
          </a:p>
          <a:p>
            <a:pPr algn="ctr"/>
            <a:r>
              <a:rPr lang="en-IN" sz="1800" dirty="0"/>
              <a:t>The dashboard analyzed 1000 claims and surfaced 146 for review, including 34 high-priority claims. </a:t>
            </a:r>
          </a:p>
          <a:p>
            <a:pPr algn="ctr"/>
            <a:r>
              <a:rPr lang="en-IN" sz="1800" dirty="0"/>
              <a:t>This converts the full dataset into a smaller, ranked work queue.”</a:t>
            </a: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B2C3AD-D5BD-4228-BB44-CD380BCACE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/>
            <a:r>
              <a:rPr lang="en-US" sz="1800" dirty="0"/>
              <a:t>“On the Claims Review page, I can show only surfaced claims and filter by priority, provider, or diagnosis. Reviewers can compare scores, triggered checks, and export the filtered queue.”</a:t>
            </a: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49742E-E248-42F8-8A8B-C1470B7A04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/>
            <a:r>
              <a:rPr lang="en-IN" sz="1800" dirty="0"/>
              <a:t>To show how the prioritization remains explainable, this page can examine one specific claim</a:t>
            </a:r>
          </a:p>
          <a:p>
            <a:pPr algn="ctr"/>
            <a:r>
              <a:rPr lang="en-US" sz="1800" dirty="0"/>
              <a:t>“Here is claim CLM-00048.</a:t>
            </a:r>
          </a:p>
          <a:p>
            <a:pPr algn="ctr"/>
            <a:r>
              <a:rPr lang="en-US" sz="1800" dirty="0"/>
              <a:t> It has a review score of ninety, a rule score of eighty-five, and an anomaly score of ninety-nine point seven. </a:t>
            </a:r>
          </a:p>
          <a:p>
            <a:pPr algn="ctr"/>
            <a:r>
              <a:rPr lang="en-US" sz="1800" dirty="0"/>
              <a:t>The page explains the amount difference, triggered checks, and recommended action, giving the reviewer an auditable reason for escalation.”</a:t>
            </a: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462E8-FF31-4EF3-A2E4-E3494CBD59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/>
            <a:r>
              <a:rPr lang="en-US" sz="1800" dirty="0"/>
              <a:t>Finally, the Synthetic Evaluation page shows how the approach performed on the controlled dataset</a:t>
            </a:r>
          </a:p>
          <a:p>
            <a:pPr algn="ctr"/>
            <a:r>
              <a:rPr lang="en-US" sz="1800" dirty="0"/>
              <a:t>“The evaluation page shows the 83 percent anomaly-detection rate, 7 percent routine-claim surfacing rate, and 56.8 percent synthetic precision. </a:t>
            </a:r>
          </a:p>
          <a:p>
            <a:pPr algn="ctr"/>
            <a:r>
              <a:rPr lang="en-US" sz="1800" dirty="0"/>
              <a:t>These results apply only to this controlled synthetic dataset.”</a:t>
            </a: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63942E-5B83-43A7-87D6-D083FE8D8E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ClaimGuard demonstrates an explainable, human-centered approach to Payment that could be extended responsibly across Treatment, Payment, and Operations. 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“Finally, these are the sources supporting the research, recommendations, and technical method</a:t>
            </a:r>
          </a:p>
          <a:p>
            <a:pPr algn="ctr"/>
            <a:r>
              <a:rPr lang="en-IN" dirty="0"/>
              <a:t>Now I’ll briefly demonstrate the working ClaimGuard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502920" y="393120"/>
            <a:ext cx="475200" cy="360"/>
          </a:xfrm>
          <a:prstGeom prst="line">
            <a:avLst/>
          </a:prstGeom>
          <a:ln w="38100">
            <a:solidFill>
              <a:srgbClr val="3E63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502920" y="6528960"/>
            <a:ext cx="1279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 spc="111">
                <a:solidFill>
                  <a:srgbClr val="637083"/>
                </a:solidFill>
                <a:effectLst/>
                <a:uFillTx/>
                <a:latin typeface="Arial"/>
                <a:ea typeface="Arial"/>
              </a:rPr>
              <a:t>CLAIMGUARD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1828800" y="6528960"/>
            <a:ext cx="1828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rPr>
              <a:t>Cotiviti Intern Assessment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384280" y="6510600"/>
            <a:ext cx="319680" cy="14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A85F-E220-4AA1-BF7A-EC47D1725299}" type="slidenum">
              <a: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41480" y="656539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93299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-91973" y="-9540"/>
            <a:ext cx="12191400" cy="685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9619200" y="2103120"/>
            <a:ext cx="360" cy="2194560"/>
          </a:xfrm>
          <a:prstGeom prst="line">
            <a:avLst/>
          </a:prstGeom>
          <a:ln w="2159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Shape 1"/>
          <p:cNvSpPr/>
          <p:nvPr/>
        </p:nvSpPr>
        <p:spPr>
          <a:xfrm>
            <a:off x="-16470" y="-9540"/>
            <a:ext cx="127800" cy="6867540"/>
          </a:xfrm>
          <a:prstGeom prst="rect">
            <a:avLst/>
          </a:prstGeom>
          <a:solidFill>
            <a:srgbClr val="3E63DD"/>
          </a:solidFill>
          <a:ln w="12700">
            <a:solidFill>
              <a:srgbClr val="3E63D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15" name="Text 3"/>
          <p:cNvSpPr/>
          <p:nvPr/>
        </p:nvSpPr>
        <p:spPr>
          <a:xfrm>
            <a:off x="777240" y="1033200"/>
            <a:ext cx="704052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3B57"/>
                </a:solidFill>
                <a:effectLst/>
                <a:uFillTx/>
                <a:ea typeface="Arial"/>
              </a:rPr>
              <a:t>Clinical Decision Making and</a:t>
            </a:r>
            <a:endParaRPr lang="en-US" sz="2900" b="0" u="none" strike="noStrike">
              <a:solidFill>
                <a:srgbClr val="000000"/>
              </a:solidFill>
              <a:effectLst/>
              <a:uFillTx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73B57"/>
                </a:solidFill>
                <a:effectLst/>
                <a:uFillTx/>
                <a:ea typeface="Arial"/>
              </a:rPr>
              <a:t>Pattern Recognition in Health Care</a:t>
            </a:r>
            <a:endParaRPr lang="en-US" sz="29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6" name="Text 4"/>
          <p:cNvSpPr/>
          <p:nvPr/>
        </p:nvSpPr>
        <p:spPr>
          <a:xfrm>
            <a:off x="804600" y="2587680"/>
            <a:ext cx="4937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3E63DD"/>
                </a:solidFill>
                <a:effectLst/>
                <a:uFillTx/>
                <a:ea typeface="Arial"/>
              </a:rPr>
              <a:t>A TPO Strategy for Cotiviti</a:t>
            </a:r>
            <a:endParaRPr lang="en-US" sz="17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7" name="Text 5"/>
          <p:cNvSpPr/>
          <p:nvPr/>
        </p:nvSpPr>
        <p:spPr>
          <a:xfrm>
            <a:off x="804600" y="3090600"/>
            <a:ext cx="6034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03040"/>
                </a:solidFill>
                <a:effectLst/>
                <a:uFillTx/>
                <a:ea typeface="Arial"/>
              </a:rPr>
              <a:t>ClaimGuard: Explainable Claims Review Prioritization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" name="Text 7"/>
          <p:cNvSpPr/>
          <p:nvPr/>
        </p:nvSpPr>
        <p:spPr>
          <a:xfrm>
            <a:off x="2773312" y="5632560"/>
            <a:ext cx="6266185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Akshat Paras Mehta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600" b="1" dirty="0">
                <a:solidFill>
                  <a:schemeClr val="accent1"/>
                </a:solidFill>
              </a:rPr>
              <a:t>|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25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Rochester Institute of Technology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600" b="1" dirty="0">
                <a:solidFill>
                  <a:schemeClr val="accent1"/>
                </a:solidFill>
              </a:rPr>
              <a:t>|</a:t>
            </a:r>
            <a:r>
              <a:rPr lang="en-US" sz="1250" dirty="0">
                <a:solidFill>
                  <a:srgbClr val="000000"/>
                </a:solidFill>
              </a:rPr>
              <a:t> </a:t>
            </a:r>
            <a:r>
              <a:rPr lang="en-US" sz="125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Temp Intern — GenAI Sci Role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0" name="Shape 8"/>
          <p:cNvSpPr/>
          <p:nvPr/>
        </p:nvSpPr>
        <p:spPr>
          <a:xfrm>
            <a:off x="7818120" y="1444680"/>
            <a:ext cx="3520080" cy="658080"/>
          </a:xfrm>
          <a:prstGeom prst="roundRect">
            <a:avLst>
              <a:gd name="adj" fmla="val 11111"/>
            </a:avLst>
          </a:prstGeom>
          <a:solidFill>
            <a:srgbClr val="5E7CE2"/>
          </a:solidFill>
          <a:ln w="12700">
            <a:solidFill>
              <a:srgbClr val="5E7CE2">
                <a:alpha val="0"/>
              </a:srgbClr>
            </a:solidFill>
            <a:round/>
          </a:ln>
          <a:effectLst>
            <a:outerShdw blurRad="19080" dist="7127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21" name="Text 9"/>
          <p:cNvSpPr/>
          <p:nvPr/>
        </p:nvSpPr>
        <p:spPr>
          <a:xfrm>
            <a:off x="8101440" y="164592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ea typeface="Arial"/>
              </a:rPr>
              <a:t>Treatment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7818120" y="2487240"/>
            <a:ext cx="3520080" cy="658080"/>
          </a:xfrm>
          <a:prstGeom prst="roundRect">
            <a:avLst>
              <a:gd name="adj" fmla="val 11111"/>
            </a:avLst>
          </a:prstGeom>
          <a:solidFill>
            <a:srgbClr val="3E63DD"/>
          </a:solidFill>
          <a:ln w="12700">
            <a:solidFill>
              <a:srgbClr val="3E63DD">
                <a:alpha val="0"/>
              </a:srgbClr>
            </a:solidFill>
            <a:round/>
          </a:ln>
          <a:effectLst>
            <a:outerShdw blurRad="241935120" dist="96774120" algn="bl" rotWithShape="0">
              <a:srgbClr val="00000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24" name="Text 12"/>
          <p:cNvSpPr/>
          <p:nvPr/>
        </p:nvSpPr>
        <p:spPr>
          <a:xfrm>
            <a:off x="8101440" y="268848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ea typeface="Arial"/>
              </a:rPr>
              <a:t>Payment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7818120" y="3529440"/>
            <a:ext cx="3520080" cy="658080"/>
          </a:xfrm>
          <a:prstGeom prst="roundRect">
            <a:avLst>
              <a:gd name="adj" fmla="val 11111"/>
            </a:avLst>
          </a:prstGeom>
          <a:solidFill>
            <a:srgbClr val="234E70"/>
          </a:solidFill>
          <a:ln w="12700">
            <a:solidFill>
              <a:srgbClr val="234E70">
                <a:alpha val="0"/>
              </a:srgbClr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27" name="Text 15"/>
          <p:cNvSpPr/>
          <p:nvPr/>
        </p:nvSpPr>
        <p:spPr>
          <a:xfrm>
            <a:off x="8101440" y="373068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ea typeface="Arial"/>
              </a:rPr>
              <a:t>Operations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9" name="Text 17"/>
          <p:cNvSpPr/>
          <p:nvPr/>
        </p:nvSpPr>
        <p:spPr>
          <a:xfrm>
            <a:off x="7955280" y="4681800"/>
            <a:ext cx="3245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73B57"/>
                </a:solidFill>
                <a:effectLst/>
                <a:uFillTx/>
                <a:ea typeface="Arial"/>
              </a:rPr>
              <a:t>Prioritized, explainable evidence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8357400" y="4297680"/>
            <a:ext cx="2514600" cy="360"/>
          </a:xfrm>
          <a:prstGeom prst="line">
            <a:avLst/>
          </a:prstGeom>
          <a:ln w="254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10863000" y="1554480"/>
            <a:ext cx="438480" cy="438480"/>
          </a:xfrm>
          <a:prstGeom prst="chevron">
            <a:avLst>
              <a:gd name="adj" fmla="val 50000"/>
            </a:avLst>
          </a:prstGeom>
          <a:solidFill>
            <a:schemeClr val="bg1">
              <a:alpha val="28000"/>
            </a:schemeClr>
          </a:solidFill>
          <a:ln w="12700">
            <a:solidFill>
              <a:schemeClr val="bg1">
                <a:alpha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10863000" y="2597040"/>
            <a:ext cx="438480" cy="438480"/>
          </a:xfrm>
          <a:prstGeom prst="chevron">
            <a:avLst>
              <a:gd name="adj" fmla="val 50000"/>
            </a:avLst>
          </a:prstGeom>
          <a:solidFill>
            <a:schemeClr val="bg1">
              <a:alpha val="28000"/>
            </a:schemeClr>
          </a:solidFill>
          <a:ln w="12700">
            <a:solidFill>
              <a:schemeClr val="bg1">
                <a:alpha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10863000" y="3639240"/>
            <a:ext cx="438480" cy="438480"/>
          </a:xfrm>
          <a:prstGeom prst="chevron">
            <a:avLst>
              <a:gd name="adj" fmla="val 50000"/>
            </a:avLst>
          </a:prstGeom>
          <a:solidFill>
            <a:schemeClr val="bg1">
              <a:alpha val="28000"/>
            </a:schemeClr>
          </a:solidFill>
          <a:ln w="12700">
            <a:solidFill>
              <a:schemeClr val="bg1">
                <a:alpha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" name="Slide Number Placeholder 0">
            <a:extLst>
              <a:ext uri="{FF2B5EF4-FFF2-40B4-BE49-F238E27FC236}">
                <a16:creationId xmlns:a16="http://schemas.microsoft.com/office/drawing/2014/main" id="{BA285ABC-5319-F225-951A-219C56CACDE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871325" y="6437313"/>
            <a:ext cx="320675" cy="1460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08097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1"/>
          <p:cNvSpPr/>
          <p:nvPr/>
        </p:nvSpPr>
        <p:spPr>
          <a:xfrm>
            <a:off x="594360" y="30996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3B57"/>
                </a:solidFill>
                <a:effectLst/>
                <a:uFillTx/>
                <a:ea typeface="Arial"/>
              </a:rPr>
              <a:t>From Healthcare Data to Expert Action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5" name="Text 2"/>
          <p:cNvSpPr/>
          <p:nvPr/>
        </p:nvSpPr>
        <p:spPr>
          <a:xfrm>
            <a:off x="621720" y="882720"/>
            <a:ext cx="107895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647184"/>
                </a:solidFill>
                <a:effectLst/>
                <a:uFillTx/>
                <a:ea typeface="Arial"/>
              </a:rPr>
              <a:t>Clinical decision making and pattern recognition convert healthcare data into prioritized, explainable evidence that supports human action.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6" name="Shape 3"/>
          <p:cNvSpPr/>
          <p:nvPr/>
        </p:nvSpPr>
        <p:spPr>
          <a:xfrm>
            <a:off x="621720" y="1700640"/>
            <a:ext cx="3492720" cy="3401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7" name="Shape 4"/>
          <p:cNvSpPr/>
          <p:nvPr/>
        </p:nvSpPr>
        <p:spPr>
          <a:xfrm>
            <a:off x="621720" y="1700640"/>
            <a:ext cx="3492720" cy="63720"/>
          </a:xfrm>
          <a:prstGeom prst="rect">
            <a:avLst/>
          </a:prstGeom>
          <a:solidFill>
            <a:srgbClr val="318F5B"/>
          </a:solidFill>
          <a:ln w="12700">
            <a:solidFill>
              <a:srgbClr val="318F5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38" name="Text 5"/>
          <p:cNvSpPr/>
          <p:nvPr/>
        </p:nvSpPr>
        <p:spPr>
          <a:xfrm>
            <a:off x="850320" y="1892880"/>
            <a:ext cx="3035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318F5B"/>
                </a:solidFill>
                <a:effectLst/>
                <a:uFillTx/>
                <a:ea typeface="Arial"/>
              </a:rPr>
              <a:t>Treatment</a:t>
            </a:r>
            <a:endParaRPr lang="en-US" sz="155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9" name="Text 6"/>
          <p:cNvSpPr/>
          <p:nvPr/>
        </p:nvSpPr>
        <p:spPr>
          <a:xfrm>
            <a:off x="850320" y="2414160"/>
            <a:ext cx="3035520" cy="250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Identify patient risk and deterioration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Organize evidence for care planning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Support clinician decision-making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0" name="Shape 7"/>
          <p:cNvSpPr/>
          <p:nvPr/>
        </p:nvSpPr>
        <p:spPr>
          <a:xfrm>
            <a:off x="4352400" y="1700640"/>
            <a:ext cx="3607020" cy="3401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1" name="Shape 8"/>
          <p:cNvSpPr/>
          <p:nvPr/>
        </p:nvSpPr>
        <p:spPr>
          <a:xfrm>
            <a:off x="4352400" y="1700640"/>
            <a:ext cx="3607020" cy="55502"/>
          </a:xfrm>
          <a:prstGeom prst="rect">
            <a:avLst/>
          </a:prstGeom>
          <a:solidFill>
            <a:srgbClr val="3E63DD"/>
          </a:solidFill>
          <a:ln w="12700">
            <a:solidFill>
              <a:srgbClr val="3E63D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42" name="Text 9"/>
          <p:cNvSpPr/>
          <p:nvPr/>
        </p:nvSpPr>
        <p:spPr>
          <a:xfrm>
            <a:off x="4581000" y="1892880"/>
            <a:ext cx="3035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3E63DD"/>
                </a:solidFill>
                <a:effectLst/>
                <a:uFillTx/>
                <a:ea typeface="Arial"/>
              </a:rPr>
              <a:t>Payment</a:t>
            </a:r>
            <a:endParaRPr lang="en-US" sz="155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3" name="Text 10"/>
          <p:cNvSpPr/>
          <p:nvPr/>
        </p:nvSpPr>
        <p:spPr>
          <a:xfrm>
            <a:off x="4457340" y="2414160"/>
            <a:ext cx="3502080" cy="250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Detect coding and utilization mismatches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Surface duplicate and unusual claim patterns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Prioritize cases for expert review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8188020" y="1700640"/>
            <a:ext cx="3492720" cy="340128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5" name="Shape 12"/>
          <p:cNvSpPr/>
          <p:nvPr/>
        </p:nvSpPr>
        <p:spPr>
          <a:xfrm>
            <a:off x="8188020" y="1700640"/>
            <a:ext cx="3492720" cy="63720"/>
          </a:xfrm>
          <a:prstGeom prst="rect">
            <a:avLst/>
          </a:prstGeom>
          <a:solidFill>
            <a:srgbClr val="D79A2B"/>
          </a:solidFill>
          <a:ln w="12700">
            <a:solidFill>
              <a:srgbClr val="D79A2B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6" name="Text 13"/>
          <p:cNvSpPr/>
          <p:nvPr/>
        </p:nvSpPr>
        <p:spPr>
          <a:xfrm>
            <a:off x="8416620" y="1892880"/>
            <a:ext cx="3035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D79A2B"/>
                </a:solidFill>
                <a:effectLst/>
                <a:uFillTx/>
                <a:ea typeface="Arial"/>
              </a:rPr>
              <a:t>Operations</a:t>
            </a:r>
            <a:endParaRPr lang="en-US" sz="155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7" name="Text 14"/>
          <p:cNvSpPr/>
          <p:nvPr/>
        </p:nvSpPr>
        <p:spPr>
          <a:xfrm>
            <a:off x="8416620" y="2414160"/>
            <a:ext cx="3263760" cy="250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Forecast service demand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Anticipate staffing pressure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85750" indent="-28575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30" b="0" u="none" strike="noStrike" dirty="0">
                <a:solidFill>
                  <a:srgbClr val="203040"/>
                </a:solidFill>
                <a:effectLst/>
                <a:uFillTx/>
                <a:ea typeface="Arial"/>
              </a:rPr>
              <a:t>Support capacity and resource planning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8" name="Shape 15"/>
          <p:cNvSpPr/>
          <p:nvPr/>
        </p:nvSpPr>
        <p:spPr>
          <a:xfrm>
            <a:off x="621720" y="5376600"/>
            <a:ext cx="10954080" cy="43848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613260" y="5486400"/>
            <a:ext cx="72720" cy="438480"/>
          </a:xfrm>
          <a:prstGeom prst="rect">
            <a:avLst/>
          </a:prstGeom>
          <a:solidFill>
            <a:srgbClr val="3E63DD"/>
          </a:solidFill>
          <a:ln w="12700">
            <a:solidFill>
              <a:srgbClr val="3E63D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</a:endParaRPr>
          </a:p>
        </p:txBody>
      </p:sp>
      <p:sp>
        <p:nvSpPr>
          <p:cNvPr id="50" name="Text 17"/>
          <p:cNvSpPr/>
          <p:nvPr/>
        </p:nvSpPr>
        <p:spPr>
          <a:xfrm>
            <a:off x="822960" y="548640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173B57"/>
                </a:solidFill>
                <a:effectLst/>
                <a:uFillTx/>
                <a:ea typeface="Arial"/>
              </a:rPr>
              <a:t>Key principle: Direct the right expert to the right case at the right time—not replace expert judgment.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51" name="Text 18"/>
          <p:cNvSpPr/>
          <p:nvPr/>
        </p:nvSpPr>
        <p:spPr>
          <a:xfrm>
            <a:off x="621720" y="6291000"/>
            <a:ext cx="10698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7A8796"/>
                </a:solidFill>
                <a:effectLst/>
                <a:uFillTx/>
                <a:ea typeface="Arial"/>
              </a:rPr>
              <a:t>Sources: Gomez-Cabello et al. (2024); du Preez et al. (2025); Blanco et al. (2026).</a:t>
            </a:r>
            <a:endParaRPr lang="en-US" sz="75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0C88D-E71F-C20F-05A4-D048E72C0066}"/>
              </a:ext>
            </a:extLst>
          </p:cNvPr>
          <p:cNvSpPr txBox="1"/>
          <p:nvPr/>
        </p:nvSpPr>
        <p:spPr>
          <a:xfrm>
            <a:off x="822960" y="5646662"/>
            <a:ext cx="11021005" cy="4462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tabLst>
                <a:tab pos="0" algn="l"/>
              </a:tabLst>
              <a:defRPr sz="115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en-IN" dirty="0">
                <a:latin typeface="+mn-lt"/>
              </a:rPr>
              <a:t>Methods considered across TPO: chain reasoning, agentic generative AI, classification, prediction, inference, clustering, and time-series anomaly detection.</a:t>
            </a:r>
          </a:p>
        </p:txBody>
      </p:sp>
      <p:sp>
        <p:nvSpPr>
          <p:cNvPr id="4" name="Slide Number Placeholder 0">
            <a:extLst>
              <a:ext uri="{FF2B5EF4-FFF2-40B4-BE49-F238E27FC236}">
                <a16:creationId xmlns:a16="http://schemas.microsoft.com/office/drawing/2014/main" id="{B29B8D73-8E61-200C-C248-7243E85ECF6D}"/>
              </a:ext>
            </a:extLst>
          </p:cNvPr>
          <p:cNvSpPr txBox="1">
            <a:spLocks/>
          </p:cNvSpPr>
          <p:nvPr/>
        </p:nvSpPr>
        <p:spPr>
          <a:xfrm>
            <a:off x="11943369" y="6488290"/>
            <a:ext cx="222504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08097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017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Changing—and Why It Matters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83210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shifts are moving healthcare analytics from isolated scoring to governed, evidence-linked decision support.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27101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50" b="1" kern="0" spc="130" dirty="0">
                <a:solidFill>
                  <a:srgbClr val="496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CHANGING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17536" y="1234440"/>
            <a:ext cx="1444752" cy="256032"/>
          </a:xfrm>
          <a:prstGeom prst="roundRect">
            <a:avLst>
              <a:gd name="adj" fmla="val 21429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18120" y="1271016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130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59536" y="1792224"/>
            <a:ext cx="0" cy="3218688"/>
          </a:xfrm>
          <a:prstGeom prst="line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545336"/>
            <a:ext cx="66568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1545336"/>
            <a:ext cx="64008" cy="1207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496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76656" y="189280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76656" y="19019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96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25296" y="171907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Context-Rich Pattern Recognition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1225296" y="2039112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each case with prior services, peer behavior, eligibility, contracts, and temporal patterns—not only an isolated score.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502920" y="2962656"/>
            <a:ext cx="66568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2962656"/>
            <a:ext cx="64008" cy="1207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76656" y="331012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656" y="33192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D80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25296" y="313639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Agentic Workflows</a:t>
            </a:r>
            <a:endParaRPr lang="en-US" sz="1720" dirty="0"/>
          </a:p>
        </p:txBody>
      </p:sp>
      <p:sp>
        <p:nvSpPr>
          <p:cNvPr id="20" name="Text 18"/>
          <p:cNvSpPr/>
          <p:nvPr/>
        </p:nvSpPr>
        <p:spPr>
          <a:xfrm>
            <a:off x="1225296" y="3456432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supporting evidence and call approved tools while preserving human decision authority.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502920" y="4379976"/>
            <a:ext cx="66568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2920" y="4379976"/>
            <a:ext cx="64008" cy="1207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6656" y="4727448"/>
            <a:ext cx="384048" cy="384048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6656" y="47365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25296" y="455371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by Design</a:t>
            </a:r>
            <a:endParaRPr lang="en-US" sz="1720" dirty="0"/>
          </a:p>
        </p:txBody>
      </p:sp>
      <p:sp>
        <p:nvSpPr>
          <p:cNvPr id="26" name="Text 24"/>
          <p:cNvSpPr/>
          <p:nvPr/>
        </p:nvSpPr>
        <p:spPr>
          <a:xfrm>
            <a:off x="1225296" y="4873752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documentation, monitoring, drift detection, evaluation, oversight, and rollback into the delivery lifecycle.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7717536" y="1545336"/>
            <a:ext cx="3968496" cy="1874520"/>
          </a:xfrm>
          <a:prstGeom prst="roundRect">
            <a:avLst>
              <a:gd name="adj" fmla="val 3902"/>
            </a:avLst>
          </a:prstGeom>
          <a:solidFill>
            <a:srgbClr val="EAF6EF"/>
          </a:solidFill>
          <a:ln w="12700">
            <a:solidFill>
              <a:srgbClr val="B8D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717536" y="1545336"/>
            <a:ext cx="3968496" cy="64008"/>
          </a:xfrm>
          <a:prstGeom prst="rect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955280" y="177393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8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Opportunities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964424" y="2194560"/>
            <a:ext cx="82296" cy="82296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129016" y="214884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intervention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964424" y="2468880"/>
            <a:ext cx="82296" cy="82296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129016" y="242316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Faster, better-targeted review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7964424" y="2743200"/>
            <a:ext cx="82296" cy="82296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129016" y="269748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low-value review touches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7964424" y="3017520"/>
            <a:ext cx="82296" cy="82296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129016" y="297180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use of clinical, coding, and investigative expertise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7717536" y="3602736"/>
            <a:ext cx="3968496" cy="1993392"/>
          </a:xfrm>
          <a:prstGeom prst="roundRect">
            <a:avLst>
              <a:gd name="adj" fmla="val 3670"/>
            </a:avLst>
          </a:prstGeom>
          <a:solidFill>
            <a:srgbClr val="FFF0F2"/>
          </a:solidFill>
          <a:ln w="12700">
            <a:solidFill>
              <a:srgbClr val="F3BC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717536" y="3602736"/>
            <a:ext cx="3968496" cy="64008"/>
          </a:xfrm>
          <a:prstGeom prst="rect">
            <a:avLst/>
          </a:prstGeom>
          <a:solidFill>
            <a:srgbClr val="E6505B"/>
          </a:solidFill>
          <a:ln w="12700">
            <a:solidFill>
              <a:srgbClr val="E6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955280" y="3831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50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Threats to Manage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964424" y="4251960"/>
            <a:ext cx="82296" cy="82296"/>
          </a:xfrm>
          <a:prstGeom prst="ellipse">
            <a:avLst/>
          </a:prstGeom>
          <a:solidFill>
            <a:srgbClr val="E6505B"/>
          </a:solidFill>
          <a:ln w="12700">
            <a:solidFill>
              <a:srgbClr val="E6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29016" y="4206240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positives, bias, and data/model drift</a:t>
            </a:r>
            <a:endParaRPr lang="en-US" sz="1190" dirty="0"/>
          </a:p>
        </p:txBody>
      </p:sp>
      <p:sp>
        <p:nvSpPr>
          <p:cNvPr id="43" name="Shape 41"/>
          <p:cNvSpPr/>
          <p:nvPr/>
        </p:nvSpPr>
        <p:spPr>
          <a:xfrm>
            <a:off x="7964424" y="4498848"/>
            <a:ext cx="82296" cy="82296"/>
          </a:xfrm>
          <a:prstGeom prst="ellipse">
            <a:avLst/>
          </a:prstGeom>
          <a:solidFill>
            <a:srgbClr val="E6505B"/>
          </a:solidFill>
          <a:ln w="12700">
            <a:solidFill>
              <a:srgbClr val="E6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129016" y="4453128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risks and weak data lineage</a:t>
            </a:r>
            <a:endParaRPr lang="en-US" sz="1190" dirty="0"/>
          </a:p>
        </p:txBody>
      </p:sp>
      <p:sp>
        <p:nvSpPr>
          <p:cNvPr id="45" name="Shape 43"/>
          <p:cNvSpPr/>
          <p:nvPr/>
        </p:nvSpPr>
        <p:spPr>
          <a:xfrm>
            <a:off x="7964424" y="4745736"/>
            <a:ext cx="82296" cy="82296"/>
          </a:xfrm>
          <a:prstGeom prst="ellipse">
            <a:avLst/>
          </a:prstGeom>
          <a:solidFill>
            <a:srgbClr val="E6505B"/>
          </a:solidFill>
          <a:ln w="12700">
            <a:solidFill>
              <a:srgbClr val="E6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129016" y="4700016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bias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7964424" y="4992624"/>
            <a:ext cx="82296" cy="82296"/>
          </a:xfrm>
          <a:prstGeom prst="ellipse">
            <a:avLst/>
          </a:prstGeom>
          <a:solidFill>
            <a:srgbClr val="E6505B"/>
          </a:solidFill>
          <a:ln w="12700">
            <a:solidFill>
              <a:srgbClr val="E6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129016" y="4946904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 and unsafe tool use</a:t>
            </a:r>
            <a:endParaRPr lang="en-US" sz="1190" dirty="0"/>
          </a:p>
        </p:txBody>
      </p:sp>
      <p:sp>
        <p:nvSpPr>
          <p:cNvPr id="49" name="Shape 47"/>
          <p:cNvSpPr/>
          <p:nvPr/>
        </p:nvSpPr>
        <p:spPr>
          <a:xfrm>
            <a:off x="7964424" y="5239512"/>
            <a:ext cx="82296" cy="82296"/>
          </a:xfrm>
          <a:prstGeom prst="ellipse">
            <a:avLst/>
          </a:prstGeom>
          <a:solidFill>
            <a:srgbClr val="E6505B"/>
          </a:solidFill>
          <a:ln w="12700">
            <a:solidFill>
              <a:srgbClr val="E650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129016" y="5193792"/>
            <a:ext cx="3246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E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accountability</a:t>
            </a:r>
            <a:endParaRPr lang="en-US" sz="1190" dirty="0"/>
          </a:p>
        </p:txBody>
      </p:sp>
      <p:sp>
        <p:nvSpPr>
          <p:cNvPr id="51" name="Shape 49"/>
          <p:cNvSpPr/>
          <p:nvPr/>
        </p:nvSpPr>
        <p:spPr>
          <a:xfrm>
            <a:off x="502920" y="5797296"/>
            <a:ext cx="11183112" cy="420624"/>
          </a:xfrm>
          <a:prstGeom prst="roundRect">
            <a:avLst>
              <a:gd name="adj" fmla="val 130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02920" y="5797296"/>
            <a:ext cx="73152" cy="420624"/>
          </a:xfrm>
          <a:prstGeom prst="rect">
            <a:avLst/>
          </a:prstGeom>
          <a:solidFill>
            <a:srgbClr val="4967E8"/>
          </a:solidFill>
          <a:ln w="12700">
            <a:solidFill>
              <a:srgbClr val="4967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13232" y="5843016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implication: </a:t>
            </a:r>
            <a:r>
              <a:rPr lang="en-US" sz="1160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stronger pattern recognition with explicit human authority, monitoring, and rollback.</a:t>
            </a:r>
            <a:endParaRPr lang="en-US" sz="1160" dirty="0"/>
          </a:p>
        </p:txBody>
      </p:sp>
      <p:sp>
        <p:nvSpPr>
          <p:cNvPr id="54" name="Text 52"/>
          <p:cNvSpPr/>
          <p:nvPr/>
        </p:nvSpPr>
        <p:spPr>
          <a:xfrm>
            <a:off x="512064" y="64190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Cotiviti (n.d.); Autio et al. (2024); Collaco et al. (2026).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810564" y="64190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56" name="Slide Number Placeholder 0">
            <a:extLst>
              <a:ext uri="{FF2B5EF4-FFF2-40B4-BE49-F238E27FC236}">
                <a16:creationId xmlns:a16="http://schemas.microsoft.com/office/drawing/2014/main" id="{10CA6C65-63E7-BDC3-E348-CC81CAA4DDDA}"/>
              </a:ext>
            </a:extLst>
          </p:cNvPr>
          <p:cNvSpPr txBox="1">
            <a:spLocks/>
          </p:cNvSpPr>
          <p:nvPr/>
        </p:nvSpPr>
        <p:spPr>
          <a:xfrm>
            <a:off x="11943369" y="6488290"/>
            <a:ext cx="222504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08097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Three Strategic Options for Cotiviti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603504" y="1307592"/>
            <a:ext cx="329184" cy="329184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3504" y="133502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2416" y="1307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169E1"/>
                </a:solidFill>
                <a:ea typeface="Arial" pitchFamily="34" charset="-122"/>
                <a:cs typeface="Arial" pitchFamily="34" charset="-120"/>
              </a:rPr>
              <a:t>BUILD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307592"/>
            <a:ext cx="329184" cy="329184"/>
          </a:xfrm>
          <a:prstGeom prst="ellipse">
            <a:avLst/>
          </a:prstGeom>
          <a:solidFill>
            <a:srgbClr val="6E80F5"/>
          </a:solidFill>
          <a:ln w="12700">
            <a:solidFill>
              <a:srgbClr val="6E80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88536" y="133502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7448" y="1307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E80F5"/>
                </a:solidFill>
                <a:ea typeface="Arial" pitchFamily="34" charset="-122"/>
                <a:cs typeface="Arial" pitchFamily="34" charset="-120"/>
              </a:rPr>
              <a:t>ASSIST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73568" y="1307592"/>
            <a:ext cx="329184" cy="329184"/>
          </a:xfrm>
          <a:prstGeom prst="ellipse">
            <a:avLst/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73568" y="133502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412480" y="1307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4E6B"/>
                </a:solidFill>
                <a:ea typeface="Arial" pitchFamily="34" charset="-122"/>
                <a:cs typeface="Arial" pitchFamily="34" charset="-120"/>
              </a:rPr>
              <a:t>VALIDATE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" y="1764792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1905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4632" y="1764792"/>
            <a:ext cx="3529584" cy="73152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34256" y="1764792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1905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34256" y="1764792"/>
            <a:ext cx="3529584" cy="73152"/>
          </a:xfrm>
          <a:prstGeom prst="rect">
            <a:avLst/>
          </a:prstGeom>
          <a:solidFill>
            <a:srgbClr val="6E80F5"/>
          </a:solidFill>
          <a:ln w="12700">
            <a:solidFill>
              <a:srgbClr val="6E80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83880" y="1764792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3970">
            <a:solidFill>
              <a:srgbClr val="D7E0EA"/>
            </a:solidFill>
            <a:prstDash val="solid"/>
          </a:ln>
          <a:effectLst>
            <a:outerShdw blurRad="1905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83880" y="1764792"/>
            <a:ext cx="3529584" cy="73152"/>
          </a:xfrm>
          <a:prstGeom prst="rect">
            <a:avLst/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1929384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Extend the Analytics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" y="260604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B7B"/>
                </a:solidFill>
                <a:ea typeface="Arial" pitchFamily="34" charset="-122"/>
                <a:cs typeface="Arial" pitchFamily="34" charset="-120"/>
              </a:rPr>
              <a:t>Create reusable cross-TPO capabilities that can support multiple workflows.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" y="31821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169E1"/>
                </a:solidFill>
                <a:ea typeface="Arial" pitchFamily="34" charset="-122"/>
                <a:cs typeface="Arial" pitchFamily="34" charset="-120"/>
              </a:rPr>
              <a:t>SHARED SERVICES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" y="3566160"/>
            <a:ext cx="73152" cy="7315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86968" y="346557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Temporal pattern analysis</a:t>
            </a:r>
            <a:endParaRPr lang="en-US" sz="1310" dirty="0"/>
          </a:p>
        </p:txBody>
      </p:sp>
      <p:sp>
        <p:nvSpPr>
          <p:cNvPr id="26" name="Shape 24"/>
          <p:cNvSpPr/>
          <p:nvPr/>
        </p:nvSpPr>
        <p:spPr>
          <a:xfrm>
            <a:off x="740664" y="4023360"/>
            <a:ext cx="73152" cy="7315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86968" y="392277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Peer-group comparisons</a:t>
            </a:r>
            <a:endParaRPr lang="en-US" sz="1310" dirty="0"/>
          </a:p>
        </p:txBody>
      </p:sp>
      <p:sp>
        <p:nvSpPr>
          <p:cNvPr id="28" name="Shape 26"/>
          <p:cNvSpPr/>
          <p:nvPr/>
        </p:nvSpPr>
        <p:spPr>
          <a:xfrm>
            <a:off x="740664" y="4480560"/>
            <a:ext cx="73152" cy="7315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86968" y="437997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Rules and anomaly signals</a:t>
            </a:r>
            <a:endParaRPr lang="en-US" sz="1310" dirty="0"/>
          </a:p>
        </p:txBody>
      </p:sp>
      <p:sp>
        <p:nvSpPr>
          <p:cNvPr id="30" name="Shape 28"/>
          <p:cNvSpPr/>
          <p:nvPr/>
        </p:nvSpPr>
        <p:spPr>
          <a:xfrm>
            <a:off x="740664" y="4937760"/>
            <a:ext cx="73152" cy="7315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86968" y="4837176"/>
            <a:ext cx="2761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Explanations and drift monitoring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713232" y="5349240"/>
            <a:ext cx="3063240" cy="38404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2960" y="53949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4169E1"/>
                </a:solidFill>
                <a:ea typeface="Arial" pitchFamily="34" charset="-122"/>
                <a:cs typeface="Arial" pitchFamily="34" charset="-120"/>
              </a:rPr>
              <a:t>Outcome: a shared intelligence layer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5371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80F5"/>
                </a:solidFill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53712" y="1984248"/>
            <a:ext cx="329184" cy="329184"/>
          </a:xfrm>
          <a:prstGeom prst="ellipse">
            <a:avLst/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0" y="193852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Develop an Evidence-Linked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Review Copilot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62856" y="260604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B7B"/>
                </a:solidFill>
                <a:ea typeface="Arial" pitchFamily="34" charset="-122"/>
                <a:cs typeface="Arial" pitchFamily="34" charset="-120"/>
              </a:rPr>
              <a:t>Bring the evidence a reviewer needs into one expert-facing view.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62856" y="3483864"/>
            <a:ext cx="1353312" cy="329184"/>
          </a:xfrm>
          <a:prstGeom prst="roundRect">
            <a:avLst/>
          </a:prstGeom>
          <a:solidFill>
            <a:srgbClr val="F5F6FF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45152" y="3502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Relevant policy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25896" y="3483864"/>
            <a:ext cx="1298448" cy="329184"/>
          </a:xfrm>
          <a:prstGeom prst="roundRect">
            <a:avLst/>
          </a:prstGeom>
          <a:solidFill>
            <a:srgbClr val="F5F6FF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108192" y="35021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Case history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62856" y="3941064"/>
            <a:ext cx="1353312" cy="329184"/>
          </a:xfrm>
          <a:prstGeom prst="roundRect">
            <a:avLst/>
          </a:prstGeom>
          <a:solidFill>
            <a:srgbClr val="F5F6FF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645152" y="39593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Model drivers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25896" y="3941064"/>
            <a:ext cx="1335024" cy="329184"/>
          </a:xfrm>
          <a:prstGeom prst="roundRect">
            <a:avLst/>
          </a:prstGeom>
          <a:solidFill>
            <a:srgbClr val="F5F6FF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048756" y="395935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Contradictory evidence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18304" y="4526280"/>
            <a:ext cx="2706624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562856" y="4654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E80F5"/>
                </a:solidFill>
                <a:ea typeface="Arial" pitchFamily="34" charset="-122"/>
                <a:cs typeface="Arial" pitchFamily="34" charset="-120"/>
              </a:rPr>
              <a:t>HUMAN AUTHORITY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62856" y="492861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Final authority remains with the clinician, coder, auditor, or investigator.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4562856" y="5349240"/>
            <a:ext cx="3063240" cy="384048"/>
          </a:xfrm>
          <a:prstGeom prst="roundRect">
            <a:avLst/>
          </a:prstGeom>
          <a:solidFill>
            <a:srgbClr val="F0F1FF"/>
          </a:solidFill>
          <a:ln w="12700">
            <a:solidFill>
              <a:srgbClr val="F0F1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663440" y="53949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6E80F5"/>
                </a:solidFill>
                <a:ea typeface="Arial" pitchFamily="34" charset="-122"/>
                <a:cs typeface="Arial" pitchFamily="34" charset="-120"/>
              </a:rPr>
              <a:t>Outcome: faster, evidence-grounded review</a:t>
            </a:r>
            <a:endParaRPr lang="en-US" sz="1130" dirty="0"/>
          </a:p>
        </p:txBody>
      </p:sp>
      <p:sp>
        <p:nvSpPr>
          <p:cNvPr id="55" name="Text 53"/>
          <p:cNvSpPr/>
          <p:nvPr/>
        </p:nvSpPr>
        <p:spPr>
          <a:xfrm>
            <a:off x="8686800" y="187277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Productize Evaluation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12480" y="2606040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B7B"/>
                </a:solidFill>
                <a:ea typeface="Arial" pitchFamily="34" charset="-122"/>
                <a:cs typeface="Arial" pitchFamily="34" charset="-120"/>
              </a:rPr>
              <a:t>Make evidence, safety, and rollback part of delivery—not an afterthought.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412480" y="31821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6B"/>
                </a:solidFill>
                <a:ea typeface="Arial" pitchFamily="34" charset="-122"/>
                <a:cs typeface="Arial" pitchFamily="34" charset="-120"/>
              </a:rPr>
              <a:t>VALIDATION PATH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439912" y="3520440"/>
            <a:ext cx="201168" cy="201168"/>
          </a:xfrm>
          <a:prstGeom prst="ellipse">
            <a:avLst/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8540496" y="3721608"/>
            <a:ext cx="0" cy="310896"/>
          </a:xfrm>
          <a:prstGeom prst="line">
            <a:avLst/>
          </a:prstGeom>
          <a:noFill/>
          <a:ln w="15240">
            <a:solidFill>
              <a:srgbClr val="B9C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750808" y="35021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Temporal holdouts</a:t>
            </a:r>
            <a:endParaRPr lang="en-US" sz="1240" dirty="0"/>
          </a:p>
        </p:txBody>
      </p:sp>
      <p:sp>
        <p:nvSpPr>
          <p:cNvPr id="61" name="Shape 59"/>
          <p:cNvSpPr/>
          <p:nvPr/>
        </p:nvSpPr>
        <p:spPr>
          <a:xfrm>
            <a:off x="8439912" y="4032504"/>
            <a:ext cx="201168" cy="201168"/>
          </a:xfrm>
          <a:prstGeom prst="ellipse">
            <a:avLst/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8540496" y="4233672"/>
            <a:ext cx="0" cy="310896"/>
          </a:xfrm>
          <a:prstGeom prst="line">
            <a:avLst/>
          </a:prstGeom>
          <a:noFill/>
          <a:ln w="15240">
            <a:solidFill>
              <a:srgbClr val="B9C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8750808" y="40142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Shadow-mode pilots</a:t>
            </a:r>
            <a:endParaRPr lang="en-US" sz="1240" dirty="0"/>
          </a:p>
        </p:txBody>
      </p:sp>
      <p:sp>
        <p:nvSpPr>
          <p:cNvPr id="64" name="Shape 62"/>
          <p:cNvSpPr/>
          <p:nvPr/>
        </p:nvSpPr>
        <p:spPr>
          <a:xfrm>
            <a:off x="8439912" y="4544568"/>
            <a:ext cx="201168" cy="201168"/>
          </a:xfrm>
          <a:prstGeom prst="ellipse">
            <a:avLst/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8540496" y="4745736"/>
            <a:ext cx="0" cy="310896"/>
          </a:xfrm>
          <a:prstGeom prst="line">
            <a:avLst/>
          </a:prstGeom>
          <a:noFill/>
          <a:ln w="15240">
            <a:solidFill>
              <a:srgbClr val="B9C9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8750808" y="452628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Outcome scorecards</a:t>
            </a:r>
            <a:endParaRPr lang="en-US" sz="1240" dirty="0"/>
          </a:p>
        </p:txBody>
      </p:sp>
      <p:sp>
        <p:nvSpPr>
          <p:cNvPr id="67" name="Shape 65"/>
          <p:cNvSpPr/>
          <p:nvPr/>
        </p:nvSpPr>
        <p:spPr>
          <a:xfrm>
            <a:off x="8439912" y="5056632"/>
            <a:ext cx="201168" cy="201168"/>
          </a:xfrm>
          <a:prstGeom prst="ellipse">
            <a:avLst/>
          </a:prstGeom>
          <a:solidFill>
            <a:srgbClr val="1F4E6B"/>
          </a:solidFill>
          <a:ln w="12700">
            <a:solidFill>
              <a:srgbClr val="1F4E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8750807" y="5038344"/>
            <a:ext cx="2796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243648"/>
                </a:solidFill>
                <a:ea typeface="Arial" pitchFamily="34" charset="-122"/>
                <a:cs typeface="Arial" pitchFamily="34" charset="-120"/>
              </a:rPr>
              <a:t>Rollback criteria + continuous monitoring</a:t>
            </a:r>
            <a:endParaRPr lang="en-US" sz="1240" dirty="0"/>
          </a:p>
        </p:txBody>
      </p:sp>
      <p:sp>
        <p:nvSpPr>
          <p:cNvPr id="69" name="Shape 67"/>
          <p:cNvSpPr/>
          <p:nvPr/>
        </p:nvSpPr>
        <p:spPr>
          <a:xfrm>
            <a:off x="8412480" y="5349240"/>
            <a:ext cx="3063240" cy="384048"/>
          </a:xfrm>
          <a:prstGeom prst="round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8513064" y="53949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F4E6B"/>
                </a:solidFill>
                <a:ea typeface="Arial" pitchFamily="34" charset="-122"/>
                <a:cs typeface="Arial" pitchFamily="34" charset="-120"/>
              </a:rPr>
              <a:t>Outcome: measurable, reversible deployment</a:t>
            </a:r>
            <a:endParaRPr lang="en-US" sz="1130" dirty="0"/>
          </a:p>
        </p:txBody>
      </p:sp>
      <p:sp>
        <p:nvSpPr>
          <p:cNvPr id="71" name="Shape 69"/>
          <p:cNvSpPr/>
          <p:nvPr/>
        </p:nvSpPr>
        <p:spPr>
          <a:xfrm>
            <a:off x="484632" y="6089904"/>
            <a:ext cx="11228832" cy="457200"/>
          </a:xfrm>
          <a:prstGeom prst="roundRect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484632" y="6089904"/>
            <a:ext cx="73152" cy="45720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76656" y="6190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83852"/>
                </a:solidFill>
                <a:ea typeface="Arial" pitchFamily="34" charset="-122"/>
                <a:cs typeface="Arial" pitchFamily="34" charset="-120"/>
              </a:rPr>
              <a:t>Recommended position:</a:t>
            </a:r>
            <a:endParaRPr lang="en-US" sz="1220" dirty="0"/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D2E35631-4F92-F267-684A-250E7093C229}"/>
              </a:ext>
            </a:extLst>
          </p:cNvPr>
          <p:cNvSpPr/>
          <p:nvPr/>
        </p:nvSpPr>
        <p:spPr>
          <a:xfrm>
            <a:off x="4553712" y="31821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169E1"/>
                </a:solidFill>
                <a:ea typeface="Arial" pitchFamily="34" charset="-122"/>
                <a:cs typeface="Arial" pitchFamily="34" charset="-120"/>
              </a:rPr>
              <a:t>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12848" y="61447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B7B"/>
                </a:solidFill>
                <a:ea typeface="Arial" pitchFamily="34" charset="-122"/>
                <a:cs typeface="Arial" pitchFamily="34" charset="-120"/>
              </a:rPr>
              <a:t>Build shared intelligence  →  support expert review  →  validate safely</a:t>
            </a:r>
            <a:endParaRPr lang="en-US" sz="1100" dirty="0"/>
          </a:p>
        </p:txBody>
      </p:sp>
      <p:sp>
        <p:nvSpPr>
          <p:cNvPr id="77" name="Slide Number Placeholder 0">
            <a:extLst>
              <a:ext uri="{FF2B5EF4-FFF2-40B4-BE49-F238E27FC236}">
                <a16:creationId xmlns:a16="http://schemas.microsoft.com/office/drawing/2014/main" id="{E3FF700E-9D09-5EAC-A742-8A7A9618055E}"/>
              </a:ext>
            </a:extLst>
          </p:cNvPr>
          <p:cNvSpPr txBox="1">
            <a:spLocks/>
          </p:cNvSpPr>
          <p:nvPr/>
        </p:nvSpPr>
        <p:spPr>
          <a:xfrm>
            <a:off x="11943369" y="6488290"/>
            <a:ext cx="222504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08097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466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ClaimGuard: A Focused Payment Proof of Concept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research examines Treatment, Payment, and Operations; the POC intentionally focuses on Payment as a narrow, testable implementation.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1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2176272"/>
            <a:ext cx="1956816" cy="1225296"/>
          </a:xfrm>
          <a:prstGeom prst="roundRect">
            <a:avLst>
              <a:gd name="adj" fmla="val 3731"/>
            </a:avLst>
          </a:prstGeom>
          <a:solidFill>
            <a:srgbClr val="FBFCFE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2322576"/>
            <a:ext cx="310896" cy="310896"/>
          </a:xfrm>
          <a:prstGeom prst="ellipse">
            <a:avLst/>
          </a:prstGeom>
          <a:solidFill>
            <a:srgbClr val="EEF2FF"/>
          </a:solidFill>
          <a:ln w="1016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59536" y="23728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6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651760"/>
            <a:ext cx="1664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Synthetic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9536" y="3127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input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15768" y="2596896"/>
            <a:ext cx="201168" cy="384048"/>
          </a:xfrm>
          <a:prstGeom prst="chevron">
            <a:avLst/>
          </a:prstGeom>
          <a:solidFill>
            <a:srgbClr val="6D82F0"/>
          </a:solidFill>
          <a:ln w="12700">
            <a:solidFill>
              <a:srgbClr val="6D82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926080" y="2176272"/>
            <a:ext cx="1956816" cy="1225296"/>
          </a:xfrm>
          <a:prstGeom prst="roundRect">
            <a:avLst>
              <a:gd name="adj" fmla="val 3731"/>
            </a:avLst>
          </a:prstGeom>
          <a:solidFill>
            <a:srgbClr val="FBFCFE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072384" y="2322576"/>
            <a:ext cx="310896" cy="310896"/>
          </a:xfrm>
          <a:prstGeom prst="ellipse">
            <a:avLst/>
          </a:prstGeom>
          <a:solidFill>
            <a:srgbClr val="EEF2FF"/>
          </a:solidFill>
          <a:ln w="1016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72384" y="23728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8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2384" y="2651760"/>
            <a:ext cx="1664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Rules +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Forest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72384" y="3127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detection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28616" y="2596896"/>
            <a:ext cx="201168" cy="384048"/>
          </a:xfrm>
          <a:prstGeom prst="chevron">
            <a:avLst/>
          </a:prstGeom>
          <a:solidFill>
            <a:srgbClr val="6D82F0"/>
          </a:solidFill>
          <a:ln w="12700">
            <a:solidFill>
              <a:srgbClr val="6D82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138928" y="2176272"/>
            <a:ext cx="1956816" cy="1225296"/>
          </a:xfrm>
          <a:prstGeom prst="roundRect">
            <a:avLst>
              <a:gd name="adj" fmla="val 3731"/>
            </a:avLst>
          </a:prstGeom>
          <a:solidFill>
            <a:srgbClr val="FBFCFE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285232" y="2322576"/>
            <a:ext cx="310896" cy="310896"/>
          </a:xfrm>
          <a:prstGeom prst="ellipse">
            <a:avLst/>
          </a:prstGeom>
          <a:solidFill>
            <a:srgbClr val="EEF2FF"/>
          </a:solidFill>
          <a:ln w="1016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85232" y="23728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6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85232" y="2651760"/>
            <a:ext cx="1664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65% Rule Score +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 Anomaly Score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285232" y="3127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priority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41464" y="2596896"/>
            <a:ext cx="201168" cy="384048"/>
          </a:xfrm>
          <a:prstGeom prst="chevron">
            <a:avLst/>
          </a:prstGeom>
          <a:solidFill>
            <a:srgbClr val="6D82F0"/>
          </a:solidFill>
          <a:ln w="12700">
            <a:solidFill>
              <a:srgbClr val="6D82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51776" y="2176272"/>
            <a:ext cx="1956816" cy="1225296"/>
          </a:xfrm>
          <a:prstGeom prst="roundRect">
            <a:avLst>
              <a:gd name="adj" fmla="val 3731"/>
            </a:avLst>
          </a:prstGeom>
          <a:solidFill>
            <a:srgbClr val="FBFCFE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498080" y="2322576"/>
            <a:ext cx="310896" cy="310896"/>
          </a:xfrm>
          <a:prstGeom prst="ellipse">
            <a:avLst/>
          </a:prstGeom>
          <a:solidFill>
            <a:srgbClr val="EEF2FF"/>
          </a:solidFill>
          <a:ln w="1016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98080" y="23728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8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651760"/>
            <a:ext cx="1664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+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498080" y="3127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for review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54312" y="2596896"/>
            <a:ext cx="201168" cy="384048"/>
          </a:xfrm>
          <a:prstGeom prst="chevron">
            <a:avLst/>
          </a:prstGeom>
          <a:solidFill>
            <a:srgbClr val="6D82F0"/>
          </a:solidFill>
          <a:ln w="12700">
            <a:solidFill>
              <a:srgbClr val="6D82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564624" y="2176272"/>
            <a:ext cx="1956816" cy="1225296"/>
          </a:xfrm>
          <a:prstGeom prst="roundRect">
            <a:avLst>
              <a:gd name="adj" fmla="val 3731"/>
            </a:avLst>
          </a:prstGeom>
          <a:solidFill>
            <a:srgbClr val="F1F4FF"/>
          </a:solidFill>
          <a:ln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710928" y="23728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9710928" y="2583180"/>
            <a:ext cx="166420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710928" y="306781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authority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968496"/>
            <a:ext cx="3703320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57200" y="3968496"/>
            <a:ext cx="3703320" cy="73152"/>
          </a:xfrm>
          <a:prstGeom prst="rect">
            <a:avLst/>
          </a:prstGeom>
          <a:solidFill>
            <a:srgbClr val="4666E6"/>
          </a:solidFill>
          <a:ln w="12700">
            <a:solidFill>
              <a:srgbClr val="466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8368" y="4224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6274" y="4686082"/>
            <a:ext cx="585933" cy="374469"/>
          </a:xfrm>
          <a:prstGeom prst="roundRect">
            <a:avLst>
              <a:gd name="adj" fmla="val 25000"/>
            </a:avLst>
          </a:prstGeom>
          <a:solidFill>
            <a:srgbClr val="EFF3FF"/>
          </a:solidFill>
          <a:ln w="11430">
            <a:solidFill>
              <a:srgbClr val="CF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66274" y="4740946"/>
            <a:ext cx="585933" cy="21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461935" y="4686953"/>
            <a:ext cx="599560" cy="374469"/>
          </a:xfrm>
          <a:prstGeom prst="roundRect">
            <a:avLst>
              <a:gd name="adj" fmla="val 25000"/>
            </a:avLst>
          </a:prstGeom>
          <a:solidFill>
            <a:srgbClr val="EFF3FF"/>
          </a:solidFill>
          <a:ln w="11430">
            <a:solidFill>
              <a:srgbClr val="CF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461935" y="4741817"/>
            <a:ext cx="599560" cy="21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173394" y="4682599"/>
            <a:ext cx="851647" cy="374469"/>
          </a:xfrm>
          <a:prstGeom prst="roundRect">
            <a:avLst>
              <a:gd name="adj" fmla="val 25000"/>
            </a:avLst>
          </a:prstGeom>
          <a:solidFill>
            <a:srgbClr val="EFF3FF"/>
          </a:solidFill>
          <a:ln w="11430">
            <a:solidFill>
              <a:srgbClr val="CF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173394" y="4737463"/>
            <a:ext cx="851647" cy="21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14957" y="4691307"/>
            <a:ext cx="694944" cy="374469"/>
          </a:xfrm>
          <a:prstGeom prst="roundRect">
            <a:avLst>
              <a:gd name="adj" fmla="val 25000"/>
            </a:avLst>
          </a:prstGeom>
          <a:solidFill>
            <a:srgbClr val="EFF3FF"/>
          </a:solidFill>
          <a:ln w="11430">
            <a:solidFill>
              <a:srgbClr val="CF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114957" y="4746171"/>
            <a:ext cx="694944" cy="21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53766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stack · reproducible workflow · interactive review dashboard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70832" y="3968496"/>
            <a:ext cx="4572000" cy="1755648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370832" y="3968496"/>
            <a:ext cx="4572000" cy="73152"/>
          </a:xfrm>
          <a:prstGeom prst="rect">
            <a:avLst/>
          </a:prstGeom>
          <a:solidFill>
            <a:srgbClr val="E74F5B"/>
          </a:solidFill>
          <a:ln w="12700">
            <a:solidFill>
              <a:srgbClr val="E74F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572000" y="42245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RESPONSIBLE-USE GUARDRAILS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4553712"/>
            <a:ext cx="1901952" cy="420624"/>
          </a:xfrm>
          <a:prstGeom prst="roundRect">
            <a:avLst>
              <a:gd name="adj" fmla="val 8696"/>
            </a:avLst>
          </a:prstGeom>
          <a:solidFill>
            <a:srgbClr val="FFF7F7"/>
          </a:solidFill>
          <a:ln w="11430">
            <a:solidFill>
              <a:srgbClr val="F7CD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681728" y="4617720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dataset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681728" y="4782312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seed for reproducibility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6656832" y="4553712"/>
            <a:ext cx="1901952" cy="420624"/>
          </a:xfrm>
          <a:prstGeom prst="roundRect">
            <a:avLst>
              <a:gd name="adj" fmla="val 8696"/>
            </a:avLst>
          </a:prstGeom>
          <a:solidFill>
            <a:srgbClr val="FFF7F7"/>
          </a:solidFill>
          <a:ln w="11430">
            <a:solidFill>
              <a:srgbClr val="F7CD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766560" y="4617720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label leakage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6766560" y="4782312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labels excluded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4572000" y="5084064"/>
            <a:ext cx="1901952" cy="420624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681728" y="5148072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fraud determination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681728" y="5312664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Prioritization only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6656832" y="5084064"/>
            <a:ext cx="1901952" cy="420624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1430">
            <a:solidFill>
              <a:srgbClr val="D7E0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766560" y="5148072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automatic decision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6766560" y="5312664"/>
            <a:ext cx="1682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remains final</a:t>
            </a:r>
            <a:endParaRPr lang="en-US" sz="870" dirty="0"/>
          </a:p>
        </p:txBody>
      </p:sp>
      <p:sp>
        <p:nvSpPr>
          <p:cNvPr id="63" name="Shape 61"/>
          <p:cNvSpPr/>
          <p:nvPr/>
        </p:nvSpPr>
        <p:spPr>
          <a:xfrm>
            <a:off x="9162288" y="3968496"/>
            <a:ext cx="2542032" cy="1755648"/>
          </a:xfrm>
          <a:prstGeom prst="roundRect">
            <a:avLst>
              <a:gd name="adj" fmla="val 2604"/>
            </a:avLst>
          </a:prstGeom>
          <a:solidFill>
            <a:srgbClr val="EDF2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9372600" y="4224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66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TAKEAWAY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252204" y="4544133"/>
            <a:ext cx="236220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hybrid scoring prioritizes review candidates and explains why they were surfaced.</a:t>
            </a:r>
            <a:endParaRPr lang="en-US" sz="1180" dirty="0"/>
          </a:p>
        </p:txBody>
      </p:sp>
      <p:sp>
        <p:nvSpPr>
          <p:cNvPr id="66" name="Shape 64"/>
          <p:cNvSpPr/>
          <p:nvPr/>
        </p:nvSpPr>
        <p:spPr>
          <a:xfrm>
            <a:off x="9372600" y="5276088"/>
            <a:ext cx="1965960" cy="310896"/>
          </a:xfrm>
          <a:prstGeom prst="roundRect">
            <a:avLst>
              <a:gd name="adj" fmla="val 20588"/>
            </a:avLst>
          </a:prstGeom>
          <a:solidFill>
            <a:srgbClr val="DCE5FF"/>
          </a:solidFill>
          <a:ln w="10160">
            <a:solidFill>
              <a:srgbClr val="C2D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9372600" y="534009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466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remains final</a:t>
            </a:r>
            <a:endParaRPr lang="en-US" sz="960" dirty="0"/>
          </a:p>
        </p:txBody>
      </p:sp>
      <p:sp>
        <p:nvSpPr>
          <p:cNvPr id="68" name="Text 66"/>
          <p:cNvSpPr/>
          <p:nvPr/>
        </p:nvSpPr>
        <p:spPr>
          <a:xfrm>
            <a:off x="457200" y="61081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Method: Isolation Forest (Liu et al., 2008).</a:t>
            </a:r>
            <a:endParaRPr lang="en-US" sz="95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943369" y="6488290"/>
            <a:ext cx="222504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08097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C169F3FC-4749-2632-7ED2-1EE9A34A7B17}"/>
              </a:ext>
            </a:extLst>
          </p:cNvPr>
          <p:cNvSpPr/>
          <p:nvPr/>
        </p:nvSpPr>
        <p:spPr>
          <a:xfrm>
            <a:off x="1828800" y="2011680"/>
            <a:ext cx="8534400" cy="4298138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3970">
            <a:solidFill>
              <a:srgbClr val="CAD3DE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94360" y="347662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From Synthetic Claims to a Prioritized Work Queue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685800" y="126180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1,000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685800" y="16826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Claims Analyzed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3182040" y="126180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3E63DD"/>
                </a:solidFill>
                <a:effectLst/>
                <a:uFillTx/>
                <a:latin typeface="Arial"/>
                <a:ea typeface="Arial"/>
              </a:rPr>
              <a:t>146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3182040" y="16826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Surfaced for Review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5678280" y="1261800"/>
            <a:ext cx="2468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54B55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5678280" y="16826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High-Priority Claims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8174880" y="126180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$83,883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8174880" y="16826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Surfaced Claim Amount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731520" y="2011680"/>
            <a:ext cx="10698480" cy="360"/>
          </a:xfrm>
          <a:prstGeom prst="line">
            <a:avLst/>
          </a:prstGeom>
          <a:ln w="12700">
            <a:solidFill>
              <a:schemeClr val="tx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/mnt/data/overview.png"/>
          <p:cNvPicPr/>
          <p:nvPr/>
        </p:nvPicPr>
        <p:blipFill>
          <a:blip r:embed="rId3"/>
          <a:stretch/>
        </p:blipFill>
        <p:spPr>
          <a:xfrm>
            <a:off x="1898468" y="2011680"/>
            <a:ext cx="8395063" cy="422469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2"/>
          <p:cNvSpPr/>
          <p:nvPr/>
        </p:nvSpPr>
        <p:spPr>
          <a:xfrm>
            <a:off x="731520" y="630573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Rules and anomaly detection convert the synthetic dataset into a ranked, reviewable work queue.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sldNum" idx="4294967295"/>
          </p:nvPr>
        </p:nvSpPr>
        <p:spPr>
          <a:xfrm>
            <a:off x="11871325" y="6510338"/>
            <a:ext cx="320675" cy="1460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0A86A5-CD27-4E5E-87FE-FF58968B8616}" type="slidenum">
              <a: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rPr>
              <a:t>6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">
            <a:extLst>
              <a:ext uri="{FF2B5EF4-FFF2-40B4-BE49-F238E27FC236}">
                <a16:creationId xmlns:a16="http://schemas.microsoft.com/office/drawing/2014/main" id="{BF7AE186-A0E7-5CC0-78A3-67E00FA68A79}"/>
              </a:ext>
            </a:extLst>
          </p:cNvPr>
          <p:cNvSpPr/>
          <p:nvPr/>
        </p:nvSpPr>
        <p:spPr>
          <a:xfrm>
            <a:off x="252549" y="1353369"/>
            <a:ext cx="7689668" cy="3932734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3970">
            <a:solidFill>
              <a:srgbClr val="CAD3DE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0"/>
          <p:cNvSpPr/>
          <p:nvPr/>
        </p:nvSpPr>
        <p:spPr>
          <a:xfrm>
            <a:off x="594360" y="31104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30">
                <a:solidFill>
                  <a:srgbClr val="3E63DD"/>
                </a:solidFill>
                <a:effectLst/>
                <a:uFillTx/>
                <a:ea typeface="Arial"/>
              </a:rPr>
              <a:t>WORKFLOW</a:t>
            </a:r>
            <a:endParaRPr lang="en-US" sz="9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94360" y="60336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3B57"/>
                </a:solidFill>
                <a:effectLst/>
                <a:uFillTx/>
                <a:ea typeface="Arial"/>
              </a:rPr>
              <a:t>A Focused, Filterable Review Queue</a:t>
            </a:r>
            <a:endParaRPr lang="en-US" sz="26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pic>
        <p:nvPicPr>
          <p:cNvPr id="156" name="Image 0" descr="/mnt/data/claims_review.png"/>
          <p:cNvPicPr/>
          <p:nvPr/>
        </p:nvPicPr>
        <p:blipFill>
          <a:blip r:embed="rId3"/>
          <a:stretch/>
        </p:blipFill>
        <p:spPr>
          <a:xfrm>
            <a:off x="341010" y="1416960"/>
            <a:ext cx="7531538" cy="380694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PlaceHolder 1"/>
          <p:cNvSpPr>
            <a:spLocks noGrp="1"/>
          </p:cNvSpPr>
          <p:nvPr>
            <p:ph type="sldNum" idx="4294967295"/>
          </p:nvPr>
        </p:nvSpPr>
        <p:spPr>
          <a:xfrm>
            <a:off x="11871325" y="6510338"/>
            <a:ext cx="320675" cy="1460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B90AF5-1FD2-41D7-A907-65A07DAF25F3}" type="slidenum">
              <a:rPr lang="en-US" sz="750" b="0" u="none" strike="noStrike">
                <a:solidFill>
                  <a:srgbClr val="8793A5"/>
                </a:solidFill>
                <a:effectLst/>
                <a:uFillTx/>
                <a:latin typeface="+mn-lt"/>
                <a:ea typeface="Arial"/>
              </a:rPr>
              <a:t>7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53EE4D0-FF9A-38DC-BD65-D92FE542EAE0}"/>
              </a:ext>
            </a:extLst>
          </p:cNvPr>
          <p:cNvSpPr/>
          <p:nvPr/>
        </p:nvSpPr>
        <p:spPr>
          <a:xfrm>
            <a:off x="8325094" y="1416960"/>
            <a:ext cx="2069589" cy="254397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  <p:txBody>
          <a:bodyPr/>
          <a:lstStyle/>
          <a:p>
            <a:pPr>
              <a:lnSpc>
                <a:spcPct val="96000"/>
              </a:lnSpc>
            </a:pPr>
            <a:r>
              <a:rPr lang="en-US" sz="1100" dirty="0">
                <a:solidFill>
                  <a:srgbClr val="4C4C4D"/>
                </a:solidFill>
                <a:ea typeface="Heebo" pitchFamily="34" charset="-122"/>
                <a:cs typeface="Heebo" pitchFamily="34" charset="-120"/>
              </a:rPr>
              <a:t>REVIEWER CAPABILITIES</a:t>
            </a:r>
            <a:endParaRPr lang="en-US" sz="11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57D33B9F-59F5-B368-560F-107279A2E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6074" y="1891317"/>
            <a:ext cx="151859" cy="151863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EC914DC4-1463-92C6-AAFD-3A6414E7A2B1}"/>
              </a:ext>
            </a:extLst>
          </p:cNvPr>
          <p:cNvSpPr/>
          <p:nvPr/>
        </p:nvSpPr>
        <p:spPr>
          <a:xfrm>
            <a:off x="8490913" y="1891317"/>
            <a:ext cx="3380412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ea typeface="Crimson Pro SemiBold" pitchFamily="34" charset="-122"/>
                <a:cs typeface="Crimson Pro SemiBold" pitchFamily="34" charset="-120"/>
              </a:rPr>
              <a:t>Filter by review priority, provider, and diagnosis</a:t>
            </a:r>
            <a:endParaRPr lang="en-US" sz="1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DA73C08-9E17-1BA9-9FF2-42F33F1D1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6074" y="2711260"/>
            <a:ext cx="151859" cy="151863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CD1E2B99-53D6-026D-C6D9-2EC0CEB98B23}"/>
              </a:ext>
            </a:extLst>
          </p:cNvPr>
          <p:cNvSpPr/>
          <p:nvPr/>
        </p:nvSpPr>
        <p:spPr>
          <a:xfrm>
            <a:off x="8490913" y="2711261"/>
            <a:ext cx="3380412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ea typeface="Crimson Pro SemiBold" pitchFamily="34" charset="-122"/>
                <a:cs typeface="Crimson Pro SemiBold" pitchFamily="34" charset="-120"/>
              </a:rPr>
              <a:t>Focus on the surfaced claims</a:t>
            </a:r>
            <a:endParaRPr lang="en-US" sz="120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9913650F-8F64-8BA7-59F2-B7F99A2B2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6074" y="3515428"/>
            <a:ext cx="151859" cy="151863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5348B2D-A964-997D-0A86-FB915AEF292B}"/>
              </a:ext>
            </a:extLst>
          </p:cNvPr>
          <p:cNvSpPr/>
          <p:nvPr/>
        </p:nvSpPr>
        <p:spPr>
          <a:xfrm>
            <a:off x="8490913" y="3515429"/>
            <a:ext cx="3380412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ea typeface="Crimson Pro SemiBold" pitchFamily="34" charset="-122"/>
                <a:cs typeface="Crimson Pro SemiBold" pitchFamily="34" charset="-120"/>
              </a:rPr>
              <a:t>Compare scores, priorities, and triggered checks</a:t>
            </a:r>
            <a:endParaRPr lang="en-US" sz="1200" dirty="0"/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783D0EB4-65C1-1F58-6245-D1E8B8718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6074" y="4335372"/>
            <a:ext cx="151859" cy="151863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5E31CF62-4DD9-353B-ABDF-595DBC812703}"/>
              </a:ext>
            </a:extLst>
          </p:cNvPr>
          <p:cNvSpPr/>
          <p:nvPr/>
        </p:nvSpPr>
        <p:spPr>
          <a:xfrm>
            <a:off x="8490913" y="4335372"/>
            <a:ext cx="3380412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ea typeface="Crimson Pro SemiBold" pitchFamily="34" charset="-122"/>
                <a:cs typeface="Crimson Pro SemiBold" pitchFamily="34" charset="-120"/>
              </a:rPr>
              <a:t>Export filtered results for downstream review</a:t>
            </a:r>
            <a:endParaRPr lang="en-US" sz="12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CFBB8DC-E6E3-7DEA-FE92-09EFB18B531B}"/>
              </a:ext>
            </a:extLst>
          </p:cNvPr>
          <p:cNvSpPr/>
          <p:nvPr/>
        </p:nvSpPr>
        <p:spPr>
          <a:xfrm>
            <a:off x="349719" y="5622841"/>
            <a:ext cx="8412120" cy="534120"/>
          </a:xfrm>
          <a:prstGeom prst="roundRect">
            <a:avLst>
              <a:gd name="adj" fmla="val 226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 sz="1400"/>
          </a:p>
        </p:txBody>
      </p:sp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0C889137-1867-4DDB-4E7E-B9D08F9A7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77" y="5806210"/>
            <a:ext cx="256380" cy="167382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1B01BF4B-33DD-8208-2FC5-7107D91ED925}"/>
              </a:ext>
            </a:extLst>
          </p:cNvPr>
          <p:cNvSpPr/>
          <p:nvPr/>
        </p:nvSpPr>
        <p:spPr>
          <a:xfrm>
            <a:off x="893721" y="5798060"/>
            <a:ext cx="6601827" cy="75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ea typeface="Heebo Bold" pitchFamily="34" charset="-122"/>
                <a:cs typeface="Heebo Bold" pitchFamily="34" charset="-120"/>
              </a:rPr>
              <a:t>Core Principle:</a:t>
            </a:r>
            <a:r>
              <a:rPr lang="en-US" sz="1100" dirty="0">
                <a:solidFill>
                  <a:srgbClr val="000000"/>
                </a:solidFill>
                <a:ea typeface="Heebo" pitchFamily="34" charset="-122"/>
                <a:cs typeface="Heebo" pitchFamily="34" charset="-120"/>
              </a:rPr>
              <a:t> ClaimGuard creates a </a:t>
            </a:r>
            <a:r>
              <a:rPr lang="en-US" sz="1100" b="1" dirty="0">
                <a:solidFill>
                  <a:srgbClr val="2150FE"/>
                </a:solidFill>
                <a:ea typeface="Heebo Bold" pitchFamily="34" charset="-122"/>
                <a:cs typeface="Heebo Bold" pitchFamily="34" charset="-120"/>
              </a:rPr>
              <a:t>focused review queue</a:t>
            </a:r>
            <a:r>
              <a:rPr lang="en-US" sz="1100" dirty="0">
                <a:solidFill>
                  <a:srgbClr val="000000"/>
                </a:solidFill>
                <a:ea typeface="Heebo" pitchFamily="34" charset="-122"/>
                <a:cs typeface="Heebo" pitchFamily="34" charset="-120"/>
              </a:rPr>
              <a:t> — it does not make the payment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1"/>
          <p:cNvSpPr/>
          <p:nvPr/>
        </p:nvSpPr>
        <p:spPr>
          <a:xfrm>
            <a:off x="594360" y="60336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Every Priority Is Linked to Evidence and Human Action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594360" y="1389960"/>
            <a:ext cx="8329680" cy="397728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3970">
            <a:solidFill>
              <a:srgbClr val="CAD3DE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0" descr="/mnt/data/claim_details.png"/>
          <p:cNvPicPr/>
          <p:nvPr/>
        </p:nvPicPr>
        <p:blipFill>
          <a:blip r:embed="rId3"/>
          <a:stretch/>
        </p:blipFill>
        <p:spPr>
          <a:xfrm>
            <a:off x="621720" y="1418400"/>
            <a:ext cx="8274960" cy="392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Shape 3"/>
          <p:cNvSpPr/>
          <p:nvPr/>
        </p:nvSpPr>
        <p:spPr>
          <a:xfrm>
            <a:off x="9144000" y="1417320"/>
            <a:ext cx="2431800" cy="3922560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9363600" y="1627560"/>
            <a:ext cx="1974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CLM-00048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9363600" y="194760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54B55"/>
                </a:solidFill>
                <a:effectLst/>
                <a:uFillTx/>
                <a:latin typeface="Arial"/>
                <a:ea typeface="Arial"/>
              </a:rPr>
              <a:t>High-Priority Review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9308520" y="2331720"/>
            <a:ext cx="2029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54B55"/>
                </a:solidFill>
                <a:effectLst/>
                <a:uFillTx/>
                <a:latin typeface="Arial"/>
                <a:ea typeface="Arial"/>
              </a:rPr>
              <a:t>90/100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9308520" y="275220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Review Score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9381600" y="3145680"/>
            <a:ext cx="1919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203040"/>
                </a:solidFill>
                <a:effectLst/>
                <a:uFillTx/>
                <a:latin typeface="Arial"/>
                <a:ea typeface="Arial"/>
              </a:rPr>
              <a:t>Rule Score  85/100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203040"/>
                </a:solidFill>
                <a:effectLst/>
                <a:uFillTx/>
                <a:latin typeface="Arial"/>
                <a:ea typeface="Arial"/>
              </a:rPr>
              <a:t>Anomaly Score  99.7/100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9363240" y="3840480"/>
            <a:ext cx="1965960" cy="360"/>
          </a:xfrm>
          <a:prstGeom prst="line">
            <a:avLst/>
          </a:prstGeom>
          <a:ln w="12700">
            <a:solidFill>
              <a:srgbClr val="D9E0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9363600" y="400500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Claim Amount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10369440" y="3977640"/>
            <a:ext cx="959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$1,208.66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9363600" y="431604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Expected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10369440" y="4288680"/>
            <a:ext cx="959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$240.00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9363600" y="4681800"/>
            <a:ext cx="196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E63DD"/>
                </a:solidFill>
                <a:effectLst/>
                <a:uFillTx/>
                <a:latin typeface="Arial"/>
                <a:ea typeface="Arial"/>
              </a:rPr>
              <a:t>5.04× expected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621720" y="5650920"/>
            <a:ext cx="10954080" cy="438480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6"/>
          <p:cNvSpPr/>
          <p:nvPr/>
        </p:nvSpPr>
        <p:spPr>
          <a:xfrm>
            <a:off x="621720" y="5650920"/>
            <a:ext cx="72720" cy="438480"/>
          </a:xfrm>
          <a:prstGeom prst="rect">
            <a:avLst/>
          </a:prstGeom>
          <a:solidFill>
            <a:srgbClr val="3E63DD"/>
          </a:solidFill>
          <a:ln w="12700">
            <a:solidFill>
              <a:srgbClr val="3E63D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7"/>
          <p:cNvSpPr/>
          <p:nvPr/>
        </p:nvSpPr>
        <p:spPr>
          <a:xfrm>
            <a:off x="822960" y="5760720"/>
            <a:ext cx="10515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Recommended action: Prioritize manual review and verify the claim details before payment.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sldNum" idx="4294967295"/>
          </p:nvPr>
        </p:nvSpPr>
        <p:spPr>
          <a:xfrm>
            <a:off x="11871325" y="6510338"/>
            <a:ext cx="320675" cy="1460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ED0181-2132-4EF7-9DB6-D73BEE912A0C}" type="slidenum">
              <a: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rPr>
              <a:t>8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1"/>
          <p:cNvSpPr/>
          <p:nvPr/>
        </p:nvSpPr>
        <p:spPr>
          <a:xfrm>
            <a:off x="594360" y="603360"/>
            <a:ext cx="109724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Controlled Results Demonstrate Feasibility—not Production Accuracy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594360" y="1389960"/>
            <a:ext cx="8055360" cy="362052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3970">
            <a:solidFill>
              <a:srgbClr val="CAD3DE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0" descr="/mnt/data/synthetic_evaluation.png"/>
          <p:cNvPicPr/>
          <p:nvPr/>
        </p:nvPicPr>
        <p:blipFill>
          <a:blip r:embed="rId3"/>
          <a:stretch/>
        </p:blipFill>
        <p:spPr>
          <a:xfrm>
            <a:off x="621720" y="1417680"/>
            <a:ext cx="8000640" cy="356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Shape 3"/>
          <p:cNvSpPr/>
          <p:nvPr/>
        </p:nvSpPr>
        <p:spPr>
          <a:xfrm>
            <a:off x="8869680" y="1417320"/>
            <a:ext cx="2706120" cy="3565800"/>
          </a:xfrm>
          <a:prstGeom prst="roundRect">
            <a:avLst>
              <a:gd name="adj" fmla="val 1689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9052560" y="1664280"/>
            <a:ext cx="2340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3E63DD"/>
                </a:solidFill>
                <a:effectLst/>
                <a:uFillTx/>
                <a:latin typeface="Arial"/>
                <a:ea typeface="Arial"/>
              </a:rPr>
              <a:t>83 of 100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9052560" y="2084760"/>
            <a:ext cx="2340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Injected Anomalies Surfaced</a:t>
            </a:r>
            <a:endParaRPr lang="en-US" sz="1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9052560" y="2496240"/>
            <a:ext cx="2340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D79A2B"/>
                </a:solidFill>
                <a:effectLst/>
                <a:uFillTx/>
                <a:latin typeface="Arial"/>
                <a:ea typeface="Arial"/>
              </a:rPr>
              <a:t>63 of 900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9052560" y="2917080"/>
            <a:ext cx="2340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Routine Claims Surfaced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9052560" y="3328560"/>
            <a:ext cx="2340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56.8%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9052560" y="3749040"/>
            <a:ext cx="2340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dirty="0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Synthetic</a:t>
            </a:r>
            <a:r>
              <a:rPr lang="en-US" sz="1000" b="0" u="none" strike="noStrike" dirty="0">
                <a:solidFill>
                  <a:srgbClr val="647184"/>
                </a:solidFill>
                <a:effectLst/>
                <a:uFillTx/>
                <a:latin typeface="Arial"/>
                <a:ea typeface="Arial"/>
              </a:rPr>
              <a:t> Review Precision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9098280" y="4233600"/>
            <a:ext cx="2267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3040"/>
                </a:solidFill>
                <a:effectLst/>
                <a:uFillTx/>
                <a:latin typeface="Arial"/>
                <a:ea typeface="Arial"/>
              </a:rPr>
              <a:t>Clear anomalies: 100%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3040"/>
                </a:solidFill>
                <a:effectLst/>
                <a:uFillTx/>
                <a:latin typeface="Arial"/>
                <a:ea typeface="Arial"/>
              </a:rPr>
              <a:t>Subtle anomalies: 66%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621720" y="5610608"/>
            <a:ext cx="4227651" cy="665263"/>
          </a:xfrm>
          <a:prstGeom prst="roundRect">
            <a:avLst>
              <a:gd name="adj" fmla="val 5208"/>
            </a:avLst>
          </a:prstGeom>
          <a:solidFill>
            <a:srgbClr val="EEF2FF"/>
          </a:solidFill>
          <a:ln w="12700">
            <a:solidFill>
              <a:schemeClr val="bg1">
                <a:lumMod val="75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621720" y="53494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3E63DD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850320" y="5703574"/>
            <a:ext cx="3785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 dirty="0">
                <a:solidFill>
                  <a:srgbClr val="203040"/>
                </a:solidFill>
                <a:effectLst/>
                <a:uFillTx/>
                <a:latin typeface="Arial"/>
                <a:ea typeface="Arial"/>
              </a:rPr>
              <a:t>The controlled results demonstrate workflow feasibility.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 dirty="0">
                <a:solidFill>
                  <a:srgbClr val="203040"/>
                </a:solidFill>
                <a:effectLst/>
                <a:uFillTx/>
                <a:latin typeface="Arial"/>
                <a:ea typeface="Arial"/>
              </a:rPr>
              <a:t>They do not represent real-world payment-integrity accuracy.</a:t>
            </a:r>
            <a:endParaRPr lang="en-US" sz="10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7837423" y="5595840"/>
            <a:ext cx="3729377" cy="665263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5"/>
          <p:cNvSpPr/>
          <p:nvPr/>
        </p:nvSpPr>
        <p:spPr>
          <a:xfrm>
            <a:off x="7837423" y="5349420"/>
            <a:ext cx="2029097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173B57"/>
                </a:solidFill>
                <a:effectLst/>
                <a:uFillTx/>
                <a:latin typeface="Arial"/>
                <a:ea typeface="Arial"/>
              </a:rPr>
              <a:t>Recommended next step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7992001" y="5705640"/>
            <a:ext cx="33098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03040"/>
                </a:solidFill>
                <a:effectLst/>
                <a:uFillTx/>
                <a:latin typeface="Arial"/>
                <a:ea typeface="Arial"/>
              </a:rPr>
              <a:t>Run a narrow shadow-mode pilot with human review, prospective validation, subgroup analysis, rollback criteria, and outcome monitoring.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sldNum" idx="4294967295"/>
          </p:nvPr>
        </p:nvSpPr>
        <p:spPr>
          <a:xfrm>
            <a:off x="11871325" y="6510338"/>
            <a:ext cx="320675" cy="1460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8F5A0-50C3-48AB-9426-1EB53FFBE1DE}" type="slidenum">
              <a:rPr lang="en-US" sz="750" b="0" u="none" strike="noStrike">
                <a:solidFill>
                  <a:srgbClr val="8793A5"/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A5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969264"/>
            <a:ext cx="1110996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080760" y="1207008"/>
            <a:ext cx="0" cy="507492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912" y="12344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Autio, C., Schwartz, R., Dunietz, J., Jain, S., Stanley, M., Tabassi, E., Hall, P., &amp; Roberts, K. (2024).
</a:t>
            </a:r>
            <a:r>
              <a:rPr lang="en-US" sz="8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 intelligence risk management framework: Generative artificial intelligence profile (NIST AI 600-1). National Institute of Standards and Technology. https://doi.org/10.6028/NIST.AI.600-1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438912" y="242316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Blanco, J., Ferreras, M., &amp; Cosido, O. (2026).
</a:t>
            </a:r>
            <a:r>
              <a:rPr lang="en-US" sz="8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modeling of hospital emergency department demand using artificial intelligence: A systematic review. International Journal of Medical Informatics, 207, 106215. https://doi.org/10.1016/j.ijmedinf.2025.106215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438912" y="3611880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Collaco, B. G., Haider, S. A., Prabha, S., Gomez-Cabello, C. A., Genovese, A., Wood, N. G., Bagaria, S. P., Gopala, N., Tao, C., &amp; Forte, A. J. (2026).
</a:t>
            </a:r>
            <a:r>
              <a:rPr lang="en-US" sz="8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role of agentic artificial intelligence in healthcare: A scoping review. npj Digital Medicine, 9, 345. https://doi.org/10.1038/s41746-026-02517-5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438912" y="498348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Cotiviti. (n.d.).
</a:t>
            </a:r>
            <a:r>
              <a:rPr lang="en-US" sz="8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claim payment accuracy solutions. Retrieved August 5, 2026, from https://www.cotiviti.com/solutions/payment-accuracy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245352" y="12344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Preez, A., Bhattacharya, S., Beling, P., &amp; Bowen, E. (2025).
</a:t>
            </a:r>
            <a:r>
              <a:rPr lang="en-US" sz="8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 in healthcare claims using machine learning: A systematic review. Artificial Intelligence in Medicine, 160, 103061. https://doi.org/10.1016/j.artmed.2024.103061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245352" y="265176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Gomez-Cabello, C. A., Borna, S., Pressman, S., Haider, S. A., Haider, C. R., &amp; Forte, A. J. (2024).
</a:t>
            </a:r>
            <a:r>
              <a:rPr lang="en-US" sz="8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Artificial-intelligence-based clinical decision support systems in primary care: A scoping review of current clinical implementations. European Journal of Investigation in Health, Psychology and Education, 14(3), 685–698. https://doi.org/10.3390/ejihpe14030045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6245352" y="443484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173A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Liu, F. T., Ting, K. M., &amp; Zhou, Z.-H. (2008).
</a:t>
            </a:r>
            <a:r>
              <a:rPr lang="en-US" sz="87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forest. In 2008 Eighth IEEE International Conference on Data Mining (pp. 413–422). IEEE. https://doi.org/10.1109/ICDM.2008.17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1859</Words>
  <Application>Microsoft Office PowerPoint</Application>
  <PresentationFormat>Widescreen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Aptos Display</vt:lpstr>
      <vt:lpstr>Arial</vt:lpstr>
      <vt:lpstr>Crimson Pro SemiBold</vt:lpstr>
      <vt:lpstr>Heebo</vt:lpstr>
      <vt:lpstr>Heebo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Rochester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Akshat Mehta</dc:creator>
  <cp:lastModifiedBy>Akshat Mehta</cp:lastModifiedBy>
  <cp:revision>37</cp:revision>
  <dcterms:modified xsi:type="dcterms:W3CDTF">2026-08-07T00:05:43Z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2026-08-06T18:33:06Z</dcterms:created>
  <dc:creator>Akshat Paras Mehta</dc:creator>
  <dc:description/>
  <dc:language>en-US</dc:language>
  <cp:lastModifiedBy>Akshat Paras Mehta</cp:lastModifiedBy>
  <dcterms:modified xsi:type="dcterms:W3CDTF">2026-08-06T18:33:06Z</dcterms:modified>
  <cp:revision>1</cp:revision>
  <dc:subject>Cotiviti Intern Assessment — TPO Strategy and ClaimGuard POC</dc:subject>
  <dc:title>Clinical Decision Making and Pattern Recognition in Health Care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